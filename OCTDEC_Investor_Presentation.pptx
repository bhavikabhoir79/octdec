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2225"/>
              </a:solidFill>
              <a:effectLst/>
            </c:spPr>
          </c:dPt>
          <c:dPt>
            <c:idx val="1"/>
            <c:bubble3D val="0"/>
            <c:spPr>
              <a:solidFill>
                <a:srgbClr val="9EA1A6"/>
              </a:solidFill>
              <a:effectLst/>
            </c:spPr>
          </c:dPt>
          <c:dPt>
            <c:idx val="2"/>
            <c:bubble3D val="0"/>
            <c:spPr>
              <a:solidFill>
                <a:srgbClr val="C7C9C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16–20 Students</c:v>
                </c:pt>
                <c:pt idx="1">
                  <c:v>21–28 Young Pros</c:v>
                </c:pt>
                <c:pt idx="2">
                  <c:v>29–35 Working Adults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38</c:v>
                </c:pt>
                <c:pt idx="1">
                  <c:v>40</c:v>
                </c:pt>
                <c:pt idx="2">
                  <c:v>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5B5C6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2222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180</c:v>
                </c:pt>
                <c:pt idx="2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C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ADB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C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2225"/>
              </a:solidFill>
              <a:effectLst/>
            </c:spPr>
          </c:dPt>
          <c:dPt>
            <c:idx val="1"/>
            <c:bubble3D val="0"/>
            <c:spPr>
              <a:solidFill>
                <a:srgbClr val="38383B"/>
              </a:solidFill>
              <a:effectLst/>
            </c:spPr>
          </c:dPt>
          <c:dPt>
            <c:idx val="2"/>
            <c:bubble3D val="0"/>
            <c:spPr>
              <a:solidFill>
                <a:srgbClr val="9EA1A6"/>
              </a:solidFill>
              <a:effectLst/>
            </c:spPr>
          </c:dPt>
          <c:dPt>
            <c:idx val="3"/>
            <c:bubble3D val="0"/>
            <c:spPr>
              <a:solidFill>
                <a:srgbClr val="C7C9C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COGS</c:v>
                </c:pt>
                <c:pt idx="1">
                  <c:v>Marketing</c:v>
                </c:pt>
                <c:pt idx="2">
                  <c:v>Logistics</c:v>
                </c:pt>
                <c:pt idx="3">
                  <c:v>Overhead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5C6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22225"/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-3291840"/>
            <a:ext cx="6858000" cy="6858000"/>
          </a:xfrm>
          <a:prstGeom prst="ellipse">
            <a:avLst/>
          </a:prstGeom>
          <a:solidFill>
            <a:srgbClr val="38383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3931920"/>
            <a:ext cx="5943600" cy="5943600"/>
          </a:xfrm>
          <a:prstGeom prst="ellipse">
            <a:avLst/>
          </a:prstGeom>
          <a:solidFill>
            <a:srgbClr val="38383B">
              <a:alpha val="40000"/>
            </a:srgbClr>
          </a:solidFill>
          <a:ln/>
        </p:spPr>
      </p:sp>
      <p:pic>
        <p:nvPicPr>
          <p:cNvPr id="5" name="Image 0" descr="/home/claude/octde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85800"/>
            <a:ext cx="210312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KOREAN-INSPIRED DIY CAPSULE MASK KIT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3310128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Investment Portfolio Presentation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57800" y="4160520"/>
            <a:ext cx="1645920" cy="0"/>
          </a:xfrm>
          <a:prstGeom prst="line">
            <a:avLst/>
          </a:prstGeom>
          <a:noFill/>
          <a:ln w="12700">
            <a:solidFill>
              <a:srgbClr val="9EA1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3434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K-BEAUTY FOR EVERY BUDGET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MBA / MBM Business Strategy Portfolio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 Skincare Pvt. Ltd.  |  Mumbai, Maharashtra,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Fresh, Affordable Take on K-Beauty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 delivers Korean-inspired skincare in a compact, freshly-activated DIY format — combining serum and compressed mask capsule at the moment of use, at a price point built for the Indian mass market.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57276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06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kit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468880"/>
            <a:ext cx="157276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606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4-in-1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variants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468880"/>
            <a:ext cx="157276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2606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23360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target 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468880"/>
            <a:ext cx="157276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26060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0" y="3108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Freshly mixed serum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6675120" cy="2331720"/>
          </a:xfrm>
          <a:prstGeom prst="roundRect">
            <a:avLst>
              <a:gd name="adj" fmla="val 3529"/>
            </a:avLst>
          </a:prstGeom>
          <a:solidFill>
            <a:srgbClr val="F5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14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43484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Freshness-first format: serum activates the mask only at the point of use — no preservative-heavy pre-soaked sheets.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dermat-relevant concerns (hydration, brightening, acne care, soothing) in one travel-ready pouch.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at ₹130 — accessible to students and first-time K-beauty users, not just premium shoppers.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spill-proof, and built for travel, hostel, and office use.</a:t>
            </a:r>
            <a:endParaRPr lang="en-US" sz="1250" dirty="0"/>
          </a:p>
        </p:txBody>
      </p:sp>
      <p:pic>
        <p:nvPicPr>
          <p:cNvPr id="22" name="Image 0" descr="/home/claude/octdec/images/pack_fro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0" y="1417320"/>
            <a:ext cx="26060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Korean Skincare Is Loved — But Poorly Served in India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724912" cy="3291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042" y="1889882"/>
            <a:ext cx="408188" cy="4081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Pricing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035808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K-beauty sheet masks and serums are priced for premium shoppers, out of reach for students and first-timers.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19856" y="1554480"/>
            <a:ext cx="2724912" cy="3291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75888" y="1810512"/>
            <a:ext cx="566928" cy="566928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258" y="1889882"/>
            <a:ext cx="408188" cy="4081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21024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Bulky &amp; Wasteful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21024" y="3035808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pre-soaked sheet masks are heavy, leak in transit, and are impractical to carry while travelling.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91072" y="1554480"/>
            <a:ext cx="2724912" cy="3291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47104" y="1810512"/>
            <a:ext cx="566928" cy="566928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474" y="1889882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Shelf Freshness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92240" y="3035808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Pre-soaked sheets sit in preservative-laden essence for months before use, reducing perceived freshness.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62288" y="1554480"/>
            <a:ext cx="2724912" cy="3291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418320" y="1810512"/>
            <a:ext cx="566928" cy="566928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690" y="1889882"/>
            <a:ext cx="408188" cy="4081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63456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Mask, One Concern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363456" y="3035808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kits offer a single variant — consumers must buy multiple separate products for different skin needs.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22225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5257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buNone/>
            </a:pPr>
            <a:r>
              <a:rPr lang="en-US" sz="1350" dirty="0">
                <a:solidFill>
                  <a:srgbClr val="C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consumers want Korean-style skincare rituals, but need it affordable, portable, hygienic, and fresh at the point of use.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Fast-Growing Market With Room for a New Format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9EA1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$31B+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624328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38383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97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$2.98B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3739896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22225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3813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beachhead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9011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→ SAM → SOM (illustrative sizing)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1371600"/>
            <a:ext cx="502920" cy="502920"/>
          </a:xfrm>
          <a:prstGeom prst="ellipse">
            <a:avLst/>
          </a:prstGeom>
          <a:solidFill>
            <a:srgbClr val="EFEFF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1249" y="1442009"/>
            <a:ext cx="362102" cy="36210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06640" y="1344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 CAGR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06640" y="16733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skincare market projected to grow from ~$2.98B (2026) toward $5.1B by 2032.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20840" y="2542032"/>
            <a:ext cx="502920" cy="502920"/>
          </a:xfrm>
          <a:prstGeom prst="ellipse">
            <a:avLst/>
          </a:prstGeom>
          <a:solidFill>
            <a:srgbClr val="EFEFF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249" y="2612441"/>
            <a:ext cx="362102" cy="3621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0664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 CAGR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406640" y="28437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beauty &amp; personal care in India is growing faster than the category overall.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720840" y="3712464"/>
            <a:ext cx="502920" cy="502920"/>
          </a:xfrm>
          <a:prstGeom prst="ellipse">
            <a:avLst/>
          </a:prstGeom>
          <a:solidFill>
            <a:srgbClr val="EFEFF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249" y="3782873"/>
            <a:ext cx="362102" cy="3621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06640" y="3685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Social-Led Discovery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406640" y="40142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skincare buyers now discover products via social media, favouring novel, shareable formats.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720840" y="4882896"/>
            <a:ext cx="502920" cy="502920"/>
          </a:xfrm>
          <a:prstGeom prst="ellipse">
            <a:avLst/>
          </a:prstGeom>
          <a:solidFill>
            <a:srgbClr val="EFEFF0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249" y="4953305"/>
            <a:ext cx="362102" cy="36210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06640" y="48554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K-Beauty Pull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406640" y="51846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skincare rituals and ingredients continue to shape Indian consumer preference and routines.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720840" y="60716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Vyansa Intelligence, IMARC/Astute Analytica industry estimates, 2026.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Serum. Fresh Mask. Fresh Glow.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pre-soaked sheet mask. Each pouch carries dry, compressed mask capsules and separate serum sachets — combined by the user just before application for a mask that is mixed fresh, every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777240" cy="7772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2257654"/>
            <a:ext cx="559613" cy="5596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2066544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Serum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340156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one 8 ml serum sachet into a clean bowl.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1417320" y="2523744"/>
            <a:ext cx="566928" cy="0"/>
          </a:xfrm>
          <a:prstGeom prst="line">
            <a:avLst/>
          </a:prstGeom>
          <a:noFill/>
          <a:ln w="19050">
            <a:solidFill>
              <a:srgbClr val="C7C9CC"/>
            </a:solidFill>
            <a:prstDash val="sysDot"/>
          </a:ln>
        </p:spPr>
      </p:sp>
      <p:sp>
        <p:nvSpPr>
          <p:cNvPr id="13" name="Shape 10"/>
          <p:cNvSpPr/>
          <p:nvPr/>
        </p:nvSpPr>
        <p:spPr>
          <a:xfrm>
            <a:off x="2084832" y="2148840"/>
            <a:ext cx="777240" cy="7772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646" y="2257654"/>
            <a:ext cx="559613" cy="5596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15184" y="2066544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47672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Capsule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901952" y="340156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one compressed mask capsule.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2953512" y="2523744"/>
            <a:ext cx="566928" cy="0"/>
          </a:xfrm>
          <a:prstGeom prst="line">
            <a:avLst/>
          </a:prstGeom>
          <a:noFill/>
          <a:ln w="19050">
            <a:solidFill>
              <a:srgbClr val="C7C9CC"/>
            </a:solidFill>
            <a:prstDash val="sysDot"/>
          </a:ln>
        </p:spPr>
      </p:sp>
      <p:sp>
        <p:nvSpPr>
          <p:cNvPr id="19" name="Shape 15"/>
          <p:cNvSpPr/>
          <p:nvPr/>
        </p:nvSpPr>
        <p:spPr>
          <a:xfrm>
            <a:off x="3621024" y="2148840"/>
            <a:ext cx="777240" cy="7772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838" y="2257654"/>
            <a:ext cx="559613" cy="5596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51376" y="2066544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483864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It Expand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438144" y="340156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10–15 seconds as it blooms into a full sheet.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4489704" y="2523744"/>
            <a:ext cx="566928" cy="0"/>
          </a:xfrm>
          <a:prstGeom prst="line">
            <a:avLst/>
          </a:prstGeom>
          <a:noFill/>
          <a:ln w="19050">
            <a:solidFill>
              <a:srgbClr val="C7C9CC"/>
            </a:solidFill>
            <a:prstDash val="sysDot"/>
          </a:ln>
        </p:spPr>
      </p:sp>
      <p:sp>
        <p:nvSpPr>
          <p:cNvPr id="25" name="Shape 20"/>
          <p:cNvSpPr/>
          <p:nvPr/>
        </p:nvSpPr>
        <p:spPr>
          <a:xfrm>
            <a:off x="5157216" y="2148840"/>
            <a:ext cx="777240" cy="7772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030" y="2257654"/>
            <a:ext cx="559613" cy="55961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87568" y="2066544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0056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974336" y="340156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 and apply evenly to a clean face.</a:t>
            </a:r>
            <a:endParaRPr lang="en-US" sz="980" dirty="0"/>
          </a:p>
        </p:txBody>
      </p:sp>
      <p:sp>
        <p:nvSpPr>
          <p:cNvPr id="30" name="Shape 24"/>
          <p:cNvSpPr/>
          <p:nvPr/>
        </p:nvSpPr>
        <p:spPr>
          <a:xfrm>
            <a:off x="6025896" y="2523744"/>
            <a:ext cx="566928" cy="0"/>
          </a:xfrm>
          <a:prstGeom prst="line">
            <a:avLst/>
          </a:prstGeom>
          <a:noFill/>
          <a:ln w="19050">
            <a:solidFill>
              <a:srgbClr val="C7C9CC"/>
            </a:solidFill>
            <a:prstDash val="sysDot"/>
          </a:ln>
        </p:spPr>
      </p:sp>
      <p:sp>
        <p:nvSpPr>
          <p:cNvPr id="31" name="Shape 25"/>
          <p:cNvSpPr/>
          <p:nvPr/>
        </p:nvSpPr>
        <p:spPr>
          <a:xfrm>
            <a:off x="6693408" y="2148840"/>
            <a:ext cx="777240" cy="7772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2222" y="2257654"/>
            <a:ext cx="559613" cy="55961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23760" y="2066544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556248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Relax &amp; Glow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6510528" y="340156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 15–20 minutes, then remove and pat gently.</a:t>
            </a:r>
            <a:endParaRPr lang="en-US" sz="980" dirty="0"/>
          </a:p>
        </p:txBody>
      </p:sp>
      <p:sp>
        <p:nvSpPr>
          <p:cNvPr id="36" name="Shape 29"/>
          <p:cNvSpPr/>
          <p:nvPr/>
        </p:nvSpPr>
        <p:spPr>
          <a:xfrm>
            <a:off x="548640" y="4709160"/>
            <a:ext cx="7223760" cy="1508760"/>
          </a:xfrm>
          <a:prstGeom prst="roundRect">
            <a:avLst>
              <a:gd name="adj" fmla="val 5455"/>
            </a:avLst>
          </a:prstGeom>
          <a:solidFill>
            <a:srgbClr val="F5F5F6"/>
          </a:solidFill>
          <a:ln/>
        </p:spPr>
      </p:sp>
      <p:sp>
        <p:nvSpPr>
          <p:cNvPr id="37" name="Shape 30"/>
          <p:cNvSpPr/>
          <p:nvPr/>
        </p:nvSpPr>
        <p:spPr>
          <a:xfrm>
            <a:off x="86868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020056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8640" y="546811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Travel-Friendly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224028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4288" y="5020056"/>
            <a:ext cx="329184" cy="32918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920240" y="546811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Freshly Activated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361188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5888" y="5020056"/>
            <a:ext cx="329184" cy="32918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3291840" y="546811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Dermat. Tested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498348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488" y="5020056"/>
            <a:ext cx="329184" cy="32918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663440" y="546811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Cruelty-Free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635508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088" y="5020056"/>
            <a:ext cx="329184" cy="329184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035040" y="546811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Paraben-Free</a:t>
            </a:r>
            <a:endParaRPr lang="en-US" sz="950" dirty="0"/>
          </a:p>
        </p:txBody>
      </p:sp>
      <p:pic>
        <p:nvPicPr>
          <p:cNvPr id="52" name="Image 10" descr="/home/claude/octdec/images/packaging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229600" y="1325880"/>
            <a:ext cx="2743200" cy="3427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 &amp;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Variants, One Format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645920"/>
            <a:ext cx="594360" cy="59436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530" y="172913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591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 Boost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29992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Hyaluronic Acid + Ceramide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90672" y="141732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59352" y="1645920"/>
            <a:ext cx="594360" cy="59436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562" y="172913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82112" y="23591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Glow Boost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182112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BRIGHTENING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27832" y="29992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+ Niacinamide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32704" y="141732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01384" y="1645920"/>
            <a:ext cx="594360" cy="59436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594" y="172913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24144" y="23591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Shield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724144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ACNE CARE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769864" y="29992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Tree + Salicylic Acid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174736" y="141732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043416" y="1645920"/>
            <a:ext cx="594360" cy="59436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6626" y="1729130"/>
            <a:ext cx="427939" cy="42793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66176" y="23591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 Repair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8266176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SOOTHING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8311896" y="29992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Centella + Panthenol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5F5F6"/>
          </a:solidFill>
          <a:ln/>
        </p:spPr>
      </p:sp>
      <p:sp>
        <p:nvSpPr>
          <p:cNvPr id="31" name="Text 25"/>
          <p:cNvSpPr/>
          <p:nvPr/>
        </p:nvSpPr>
        <p:spPr>
          <a:xfrm>
            <a:off x="86868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BENEFITS AT A GLANCE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68680" y="4553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9" y="4624121"/>
            <a:ext cx="362102" cy="36210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08760" y="4526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Freshly Activated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1508760" y="486460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meets capsule only at use — no long soak time.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566160" y="4553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6569" y="4624121"/>
            <a:ext cx="362102" cy="36210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206240" y="4526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Ultra-Portable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4206240" y="486460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lightweight sachets fit any bag or pocket.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263640" y="4553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049" y="4624121"/>
            <a:ext cx="362102" cy="36210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903720" y="4526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4-in-1 Variety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903720" y="486460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pouch, four skin concerns covered.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8961120" y="4553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1529" y="4624121"/>
            <a:ext cx="362102" cy="36210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601200" y="4526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Price</a:t>
            </a:r>
            <a:endParaRPr lang="en-US" sz="1250" dirty="0"/>
          </a:p>
        </p:txBody>
      </p:sp>
      <p:sp>
        <p:nvSpPr>
          <p:cNvPr id="47" name="Text 37"/>
          <p:cNvSpPr/>
          <p:nvPr/>
        </p:nvSpPr>
        <p:spPr>
          <a:xfrm>
            <a:off x="9601200" y="486460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ritual at a ₹130 mass-market price point.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OCTDEC Is Built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24912" cy="28803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1795882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(16–24)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Curious, budget-conscious, discovering skincare routines for the first time via social media.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9856" y="1463040"/>
            <a:ext cx="2724912" cy="28803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122" y="1795882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 Professionals (23–35)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02736" y="29260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Time-poor, want convenient self-care that travels well between home, office, and gym.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91072" y="1463040"/>
            <a:ext cx="2724912" cy="28803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0528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338" y="1795882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952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Travellers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73952" y="29260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compact, spill-proof skincare that survives hostel stays, flights, and hotel rooms.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62288" y="1463040"/>
            <a:ext cx="2724912" cy="288036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81744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4" y="1795882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5168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Gender-Inclusive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345168" y="29260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unfussy format that appeals equally to men and women new to K-beauty.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5262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5F5F6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age-mix of target buyers</a:t>
            </a:r>
            <a:endParaRPr lang="en-US" sz="10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77240" y="4937760"/>
          <a:ext cx="23774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Shape 22"/>
          <p:cNvSpPr/>
          <p:nvPr/>
        </p:nvSpPr>
        <p:spPr>
          <a:xfrm>
            <a:off x="6217920" y="45262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5F5F6"/>
          </a:solidFill>
          <a:ln/>
        </p:spPr>
      </p:sp>
      <p:sp>
        <p:nvSpPr>
          <p:cNvPr id="30" name="Text 23"/>
          <p:cNvSpPr/>
          <p:nvPr/>
        </p:nvSpPr>
        <p:spPr>
          <a:xfrm>
            <a:off x="6537960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all have in common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537960" y="49834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Instagram / short-form video, price-aware, and open to trying new skincare formats.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trial-sized or single-use formats before committing to full-size products.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White Space Between Mass and Premium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71700"/>
                <a:gridCol w="2171700"/>
                <a:gridCol w="2171700"/>
                <a:gridCol w="21717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OCTDEC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5"/>
                          </a:solidFill>
                        </a:rPr>
                        <a:t>Imported K-Beauty Sheet Masks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5"/>
                          </a:solidFill>
                        </a:rPr>
                        <a:t>Mass-Market Indian Brands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5"/>
                          </a:solidFill>
                        </a:rPr>
                        <a:t>Traditional Sheet Masks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Price per use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5"/>
                          </a:solidFill>
                        </a:rPr>
                        <a:t>₹130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₹250–600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₹50–150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₹40–100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Freshness at use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5"/>
                          </a:solidFill>
                        </a:rPr>
                        <a:t>Freshly mixed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Pre-soaked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Pre-soaked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Pre-soaked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Variants per pack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5"/>
                          </a:solidFill>
                        </a:rPr>
                        <a:t>4 concerns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1 concern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1 concern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1 concern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Travel-friendly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5"/>
                          </a:solidFill>
                        </a:rPr>
                        <a:t>Yes — flat &amp; light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Bulky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Bulky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Bulky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K-beauty positioning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5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5C60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222225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 sits between imported K-beauty (aspirational but expensive) and mass-market Indian sheet masks (cheap but generic and stale) — offering K-beauty-grade variety and freshness at mass-market accessibility.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Gen Z and Young Professionals Where They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1795882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Social-First Content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852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“capsule reveal” videos, unboxings, and skin-concern education on Instagram &amp; YouTube Shorts.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19856" y="14630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122" y="1795882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&amp; Micro-Influencers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02736" y="2852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ambassador programs and nano/micro creators for authentic, affordable reach.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91072" y="14630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0528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338" y="1795882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952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Quick-Commerce Visibility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73952" y="2852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placement on Blinkit, Zepto, and Instamart for impulse, trial-size purchase behaviour.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62288" y="1463040"/>
            <a:ext cx="27249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81744" y="1719072"/>
            <a:ext cx="548640" cy="54864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4" y="1795882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5168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&amp; Bundling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345168" y="2852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Single-sachet samples at cafes, gyms, and college fests to drive low-risk trial.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5F5F6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MESSAGE PILLARS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68680" y="4572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“Fresh, not stale”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68680" y="4956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at the moment of use.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3566160" y="4572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“K-beauty, decoded”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3566160" y="4956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ritual made simple.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263640" y="4572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“Fits in your pocket”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6263640" y="4956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life on the move.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961120" y="4572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“₹130 well spent”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8961120" y="4956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feel, honest price.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Phased, Multi-Channel Go-To-Market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15526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81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Local Launch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71600" y="181051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via Instagram + WhatsApp storefront in Mumbai/Kalyan; campus pop-ups and college fests.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68680" y="2121408"/>
            <a:ext cx="0" cy="502920"/>
          </a:xfrm>
          <a:prstGeom prst="line">
            <a:avLst/>
          </a:prstGeom>
          <a:noFill/>
          <a:ln w="19050">
            <a:solidFill>
              <a:srgbClr val="C7C9CC"/>
            </a:solidFill>
            <a:prstDash val="sysDot"/>
          </a:ln>
        </p:spPr>
      </p:sp>
      <p:sp>
        <p:nvSpPr>
          <p:cNvPr id="11" name="Shape 8"/>
          <p:cNvSpPr/>
          <p:nvPr/>
        </p:nvSpPr>
        <p:spPr>
          <a:xfrm>
            <a:off x="548640" y="2633472"/>
            <a:ext cx="640080" cy="64008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" y="2723083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Quick Commerce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71600" y="298094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to Blinkit, Zepto, Instamart and Amazon/Flipkart for impulse-buy discovery.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68680" y="3291840"/>
            <a:ext cx="0" cy="502920"/>
          </a:xfrm>
          <a:prstGeom prst="line">
            <a:avLst/>
          </a:prstGeom>
          <a:noFill/>
          <a:ln w="19050">
            <a:solidFill>
              <a:srgbClr val="C7C9CC"/>
            </a:solidFill>
            <a:prstDash val="sysDot"/>
          </a:ln>
        </p:spPr>
      </p:sp>
      <p:sp>
        <p:nvSpPr>
          <p:cNvPr id="16" name="Shape 12"/>
          <p:cNvSpPr/>
          <p:nvPr/>
        </p:nvSpPr>
        <p:spPr>
          <a:xfrm>
            <a:off x="548640" y="3803904"/>
            <a:ext cx="640080" cy="64008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893515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822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Retail Partnerships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71600" y="415137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Salons, gyms, pharmacies, and college canteens as checkout-counter impulse items.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868680" y="4462272"/>
            <a:ext cx="0" cy="502920"/>
          </a:xfrm>
          <a:prstGeom prst="line">
            <a:avLst/>
          </a:prstGeom>
          <a:noFill/>
          <a:ln w="19050">
            <a:solidFill>
              <a:srgbClr val="C7C9CC"/>
            </a:solidFill>
            <a:prstDash val="sysDot"/>
          </a:ln>
        </p:spPr>
      </p:sp>
      <p:sp>
        <p:nvSpPr>
          <p:cNvPr id="21" name="Shape 16"/>
          <p:cNvSpPr/>
          <p:nvPr/>
        </p:nvSpPr>
        <p:spPr>
          <a:xfrm>
            <a:off x="548640" y="4974336"/>
            <a:ext cx="640080" cy="64008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" y="5063947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9926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4: Pan-India &amp; Export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371600" y="5321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distribution nationally; explore South Asian and Gulf export corridors.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126480" y="1463040"/>
            <a:ext cx="5486400" cy="4892040"/>
          </a:xfrm>
          <a:prstGeom prst="roundRect">
            <a:avLst>
              <a:gd name="adj" fmla="val 1682"/>
            </a:avLst>
          </a:prstGeom>
          <a:solidFill>
            <a:srgbClr val="F5F5F6"/>
          </a:solidFill>
          <a:ln/>
        </p:spPr>
      </p:sp>
      <p:sp>
        <p:nvSpPr>
          <p:cNvPr id="26" name="Text 20"/>
          <p:cNvSpPr/>
          <p:nvPr/>
        </p:nvSpPr>
        <p:spPr>
          <a:xfrm>
            <a:off x="644652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CUSTOMER FUNNEL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46520" y="2103120"/>
            <a:ext cx="4572000" cy="566928"/>
          </a:xfrm>
          <a:prstGeom prst="rect">
            <a:avLst/>
          </a:prstGeom>
          <a:solidFill>
            <a:srgbClr val="222225"/>
          </a:solidFill>
          <a:ln/>
        </p:spPr>
      </p:sp>
      <p:sp>
        <p:nvSpPr>
          <p:cNvPr id="28" name="Text 22"/>
          <p:cNvSpPr/>
          <p:nvPr/>
        </p:nvSpPr>
        <p:spPr>
          <a:xfrm>
            <a:off x="644652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Quick-Commerce Impressions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46520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040880" y="2852928"/>
            <a:ext cx="3383280" cy="566928"/>
          </a:xfrm>
          <a:prstGeom prst="rect">
            <a:avLst/>
          </a:prstGeom>
          <a:solidFill>
            <a:srgbClr val="222225"/>
          </a:solidFill>
          <a:ln/>
        </p:spPr>
      </p:sp>
      <p:sp>
        <p:nvSpPr>
          <p:cNvPr id="31" name="Text 25"/>
          <p:cNvSpPr/>
          <p:nvPr/>
        </p:nvSpPr>
        <p:spPr>
          <a:xfrm>
            <a:off x="7040880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 / Sample Views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04088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589520" y="3602736"/>
            <a:ext cx="2286000" cy="566928"/>
          </a:xfrm>
          <a:prstGeom prst="rect">
            <a:avLst/>
          </a:prstGeom>
          <a:solidFill>
            <a:srgbClr val="222225"/>
          </a:solidFill>
          <a:ln/>
        </p:spPr>
      </p:sp>
      <p:sp>
        <p:nvSpPr>
          <p:cNvPr id="34" name="Text 28"/>
          <p:cNvSpPr/>
          <p:nvPr/>
        </p:nvSpPr>
        <p:spPr>
          <a:xfrm>
            <a:off x="758952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/ Sample Requests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58952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046720" y="4352544"/>
            <a:ext cx="1371600" cy="566928"/>
          </a:xfrm>
          <a:prstGeom prst="rect">
            <a:avLst/>
          </a:prstGeom>
          <a:solidFill>
            <a:srgbClr val="222225"/>
          </a:solidFill>
          <a:ln/>
        </p:spPr>
      </p:sp>
      <p:sp>
        <p:nvSpPr>
          <p:cNvPr id="37" name="Text 31"/>
          <p:cNvSpPr/>
          <p:nvPr/>
        </p:nvSpPr>
        <p:spPr>
          <a:xfrm>
            <a:off x="804672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8046720" y="4608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8321040" y="5102352"/>
            <a:ext cx="822960" cy="566928"/>
          </a:xfrm>
          <a:prstGeom prst="rect">
            <a:avLst/>
          </a:prstGeom>
          <a:solidFill>
            <a:srgbClr val="222225"/>
          </a:solidFill>
          <a:ln/>
        </p:spPr>
      </p:sp>
      <p:sp>
        <p:nvSpPr>
          <p:cNvPr id="40" name="Text 34"/>
          <p:cNvSpPr/>
          <p:nvPr/>
        </p:nvSpPr>
        <p:spPr>
          <a:xfrm>
            <a:off x="8321040" y="5120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(multi-variant)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321040" y="5358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Streams, One Lean Product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502920" cy="50292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1698041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45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D2C Online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WhatsApp &amp; website storefront at full retail price.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19856" y="14630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1024" y="1627632"/>
            <a:ext cx="502920" cy="50292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33" y="1698041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42816" y="1645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Commerce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02736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/ Zepto / Instamart listings for impulse discovery.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91072" y="14630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1627632"/>
            <a:ext cx="502920" cy="50292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649" y="1698041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1645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Institutional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73952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Salons, gyms, colleges; bulk/corporate gifting orders.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62288" y="14630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63456" y="1627632"/>
            <a:ext cx="502920" cy="50292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865" y="1698041"/>
            <a:ext cx="362102" cy="3621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85248" y="1645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Bundles &amp; Subscriptions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345168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Multi-pouch bundles and monthly refill subscriptions.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352044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5F5F6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(ILLUSTRATIVE, PER KIT)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069080"/>
          <a:ext cx="47548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5C60"/>
                          </a:solidFill>
                        </a:rPr>
                        <a:t>MRP (Retail Price)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5C60"/>
                          </a:solidFill>
                        </a:rPr>
                        <a:t>₹130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5C60"/>
                          </a:solidFill>
                        </a:rPr>
                        <a:t>Est. cost of goods (serum, capsules, pouch)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5C60"/>
                          </a:solidFill>
                        </a:rPr>
                        <a:t>₹45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5C60"/>
                          </a:solidFill>
                        </a:rPr>
                        <a:t>Packaging, logistics &amp; handling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5C60"/>
                          </a:solidFill>
                        </a:rPr>
                        <a:t>₹15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225"/>
                          </a:solidFill>
                        </a:rPr>
                        <a:t>Estimated gross margin per unit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2225"/>
                          </a:solidFill>
                        </a:rPr>
                        <a:t>₹70 (~54%)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5F5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6"/>
                    </a:solidFill>
                  </a:tcPr>
                </a:tc>
              </a:tr>
            </a:tbl>
          </a:graphicData>
        </a:graphic>
      </p:graphicFrame>
      <p:sp>
        <p:nvSpPr>
          <p:cNvPr id="29" name="Shape 22"/>
          <p:cNvSpPr/>
          <p:nvPr/>
        </p:nvSpPr>
        <p:spPr>
          <a:xfrm>
            <a:off x="6080760" y="3520440"/>
            <a:ext cx="5532120" cy="2788920"/>
          </a:xfrm>
          <a:prstGeom prst="roundRect">
            <a:avLst>
              <a:gd name="adj" fmla="val 2951"/>
            </a:avLst>
          </a:prstGeom>
          <a:solidFill>
            <a:srgbClr val="222225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IS LEAN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400800" y="4041648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SKU, four pre-portioned variants — no complex manufacturing lines.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per-unit price supports high-frequency, low-friction repeat purchase.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Asset-light: contract manufacturing keeps fixed costs low at early scale.</a:t>
            </a:r>
            <a:endParaRPr lang="en-US" sz="1150" dirty="0"/>
          </a:p>
          <a:p>
            <a:pPr marL="342900" indent="-342900"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and subscriptions raise average order value without new SKUs.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3-Year Growth Trajectory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below are illustrative projections for planning purposes, not audited financials.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65836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 (₹ Lakh)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011680"/>
          <a:ext cx="6035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360920" y="1508760"/>
            <a:ext cx="42519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352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Cost Breakdown</a:t>
            </a:r>
            <a:endParaRPr lang="en-US" sz="11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7498080" y="1965960"/>
          <a:ext cx="39319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5F5F6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5138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~54%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6868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 unit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66160" y="5138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₹130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56616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263640" y="5138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26364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Y1→Y3 revenue growth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961120" y="5138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Asset-light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896112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manufacturing model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OCTDEC Stands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2222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19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fresh-activation DIY format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accessible ₹130 price point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variants in one travel-friendly SKU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4630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3838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7556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719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unrecognised brand vs. established players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education needed on DIY mixing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working capital at early stage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9EA1A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873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4050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2960" y="4572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India skincare &amp; D2C market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enables rapid trial distribution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extend into new variants &amp; formats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63640" y="37947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023360"/>
            <a:ext cx="457200" cy="457200"/>
          </a:xfrm>
          <a:prstGeom prst="ellipse">
            <a:avLst/>
          </a:prstGeom>
          <a:solidFill>
            <a:srgbClr val="5B5C6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0873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4050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537960" y="4572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barrier to entry for imitators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wars from mass-market incumbents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social media / platform economics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8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Beyond the Launch Kit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3383280"/>
            <a:ext cx="10149840" cy="0"/>
          </a:xfrm>
          <a:prstGeom prst="line">
            <a:avLst/>
          </a:prstGeom>
          <a:noFill/>
          <a:ln w="25400">
            <a:solidFill>
              <a:srgbClr val="DADB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9344" y="3300984"/>
            <a:ext cx="164592" cy="164592"/>
          </a:xfrm>
          <a:prstGeom prst="ellipse">
            <a:avLst/>
          </a:prstGeom>
          <a:solidFill>
            <a:srgbClr val="22222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00200"/>
            <a:ext cx="2377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282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Core 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distribution of the 4-variant kit across quick-commerce and campus channels.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1691640" y="3063240"/>
            <a:ext cx="0" cy="320040"/>
          </a:xfrm>
          <a:prstGeom prst="line">
            <a:avLst/>
          </a:prstGeom>
          <a:noFill/>
          <a:ln w="12700">
            <a:solidFill>
              <a:srgbClr val="C7C9CC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4672584" y="3300984"/>
            <a:ext cx="164592" cy="164592"/>
          </a:xfrm>
          <a:prstGeom prst="ellipse">
            <a:avLst/>
          </a:prstGeom>
          <a:solidFill>
            <a:srgbClr val="222225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3703320"/>
            <a:ext cx="2377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3831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4087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Variants &amp; Formats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03320" y="44165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night-repair and men's grooming variants; explore lip and eye capsule formats.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0" cy="320040"/>
          </a:xfrm>
          <a:prstGeom prst="line">
            <a:avLst/>
          </a:prstGeom>
          <a:noFill/>
          <a:ln w="12700">
            <a:solidFill>
              <a:srgbClr val="C7C9CC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7735824" y="3300984"/>
            <a:ext cx="164592" cy="164592"/>
          </a:xfrm>
          <a:prstGeom prst="ellipse">
            <a:avLst/>
          </a:prstGeom>
          <a:solidFill>
            <a:srgbClr val="222225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1600200"/>
            <a:ext cx="2377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7282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MID-LONG TERM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66560" y="1984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&amp; Loyalty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0" y="2313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refill subscriptions and a loyalty program to raise repeat purchase rate.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818120" y="3063240"/>
            <a:ext cx="0" cy="320040"/>
          </a:xfrm>
          <a:prstGeom prst="line">
            <a:avLst/>
          </a:prstGeom>
          <a:noFill/>
          <a:ln w="12700">
            <a:solidFill>
              <a:srgbClr val="C7C9CC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10799064" y="3300984"/>
            <a:ext cx="164592" cy="164592"/>
          </a:xfrm>
          <a:prstGeom prst="ellipse">
            <a:avLst/>
          </a:prstGeom>
          <a:solidFill>
            <a:srgbClr val="222225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3703320"/>
            <a:ext cx="2377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29800" y="3831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E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29800" y="4087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Export Growth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29800" y="44165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B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pan-India and explore export to South Asian and Gulf markets.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881360" y="3383280"/>
            <a:ext cx="0" cy="320040"/>
          </a:xfrm>
          <a:prstGeom prst="line">
            <a:avLst/>
          </a:prstGeom>
          <a:noFill/>
          <a:ln w="12700">
            <a:solidFill>
              <a:srgbClr val="C7C9CC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222225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486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Star: become the most trusted affordable K-beauty brand for young India — one fresh capsule at a time.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38383B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926080"/>
            <a:ext cx="5486400" cy="5486400"/>
          </a:xfrm>
          <a:prstGeom prst="ellipse">
            <a:avLst/>
          </a:prstGeom>
          <a:solidFill>
            <a:srgbClr val="38383B">
              <a:alpha val="40000"/>
            </a:srgbClr>
          </a:solidFill>
          <a:ln/>
        </p:spPr>
      </p:sp>
      <p:pic>
        <p:nvPicPr>
          <p:cNvPr id="4" name="Image 0" descr="/home/claude/octde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3200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 brings the ritual of Korean skincare to every Indian pocket — fresh, portable, and priced for real life.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3838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07" y="4488607"/>
            <a:ext cx="276515" cy="276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4453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www.octdecbb.com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7240" y="5001768"/>
            <a:ext cx="384048" cy="384048"/>
          </a:xfrm>
          <a:prstGeom prst="ellipse">
            <a:avLst/>
          </a:prstGeom>
          <a:solidFill>
            <a:srgbClr val="3838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07" y="5055535"/>
            <a:ext cx="276515" cy="2765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5020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@octdec.bb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77240" y="5568696"/>
            <a:ext cx="384048" cy="384048"/>
          </a:xfrm>
          <a:prstGeom prst="ellipse">
            <a:avLst/>
          </a:prstGeom>
          <a:solidFill>
            <a:srgbClr val="38383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7" y="5622463"/>
            <a:ext cx="276515" cy="2765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55869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Octdec Skincare Pvt. Ltd., Mumbai, Maharashtra</a:t>
            </a:r>
            <a:endParaRPr lang="en-US" sz="1250" dirty="0"/>
          </a:p>
        </p:txBody>
      </p:sp>
      <p:pic>
        <p:nvPicPr>
          <p:cNvPr id="16" name="Image 4" descr="/home/claude/octdec/images/pack_front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35440" y="91440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OCTDEC — Investor &amp; Business Portfolio Presentation</dc:title>
  <dc:subject>PptxGenJS Presentation</dc:subject>
  <dc:creator>OCTDEC Skincare Pvt. Ltd.</dc:creator>
  <cp:lastModifiedBy>OCTDEC Skincare Pvt. Ltd.</cp:lastModifiedBy>
  <cp:revision>1</cp:revision>
  <dcterms:created xsi:type="dcterms:W3CDTF">2026-07-04T08:06:03Z</dcterms:created>
  <dcterms:modified xsi:type="dcterms:W3CDTF">2026-07-04T08:06:03Z</dcterms:modified>
</cp:coreProperties>
</file>